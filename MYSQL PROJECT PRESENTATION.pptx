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9" r:id="rId1"/>
  </p:sldMasterIdLst>
  <p:notesMasterIdLst>
    <p:notesMasterId r:id="rId24"/>
  </p:notesMasterIdLst>
  <p:sldIdLst>
    <p:sldId id="256" r:id="rId2"/>
    <p:sldId id="272" r:id="rId3"/>
    <p:sldId id="286" r:id="rId4"/>
    <p:sldId id="288" r:id="rId5"/>
    <p:sldId id="289" r:id="rId6"/>
    <p:sldId id="290" r:id="rId7"/>
    <p:sldId id="291" r:id="rId8"/>
    <p:sldId id="295" r:id="rId9"/>
    <p:sldId id="292" r:id="rId10"/>
    <p:sldId id="305" r:id="rId11"/>
    <p:sldId id="306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293" r:id="rId20"/>
    <p:sldId id="294" r:id="rId21"/>
    <p:sldId id="307" r:id="rId22"/>
    <p:sldId id="259" r:id="rId23"/>
  </p:sldIdLst>
  <p:sldSz cx="12192000" cy="6858000"/>
  <p:notesSz cx="6858000" cy="9144000"/>
  <p:embeddedFontLst>
    <p:embeddedFont>
      <p:font typeface="Lato Black" panose="020F0502020204030203" pitchFamily="34" charset="0"/>
      <p:bold r:id="rId25"/>
      <p:boldItalic r:id="rId26"/>
    </p:embeddedFont>
    <p:embeddedFont>
      <p:font typeface="Libre Baskerville" panose="02000000000000000000" pitchFamily="2" charset="0"/>
      <p:regular r:id="rId27"/>
      <p:bold r:id="rId28"/>
      <p: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7039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9405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44B4A-C181-A351-5F43-7125B1FF4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BE6594-9232-BD96-1132-D6DB3545B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B0055-6C21-4D87-0755-E08497B17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1D534-7632-64C3-58A3-1084D537A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D8A13-BEFF-E1DA-6C88-7629210A4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252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66E82-9E19-A610-6BC1-E1FF926D5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C63AA-C41D-4329-C97B-BFB164BAF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900EA-26CA-5D2A-4F46-9A5D934B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DB9F2-870D-B2C0-F62C-6C4623F5E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7429B-46B3-B126-1A28-827BFA779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40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1E923-800C-3552-EF11-450515DA5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197F7-C1FC-3A3A-C3A6-06E84AD21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BDAC3-BBAD-C329-598B-41146707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065C1-312D-90EC-622E-D9CE2D4BF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D7124-98EB-9DD2-A12D-A99AF283F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238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55084-A590-319B-EF93-E67FB6940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4DCC9-6139-75B2-74D7-1E5F8FFC2C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747F84-DE60-C905-0C0F-E59541699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52944-6E97-DE4D-6BD3-557A7A31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E65F5-56AE-D069-1898-38E48D498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62650-B4AD-CEBD-BE5F-834BCAE3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890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920E-3D10-4B52-4B22-046FBE175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F9BA9-91BF-73FC-D323-4955F24CF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B589A-0951-182D-2997-1C21FE39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07A79A-47CE-D8F0-1DAD-6F167D313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B5A2B3-C4A7-0777-063A-FBA31A165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DBA5E-2F9F-4C99-3B92-7F0345053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9CF64A-1F17-C3A4-4B19-3CCEC0C68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7D12AC-E90B-66C5-9530-94AF8325A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559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CB87E-15C2-1B98-B57D-2CA5141C8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D831EB-C658-4836-B4D9-C711C31A6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12E45-ABA6-79CE-88B4-F5EB8D648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E0A15C-37FB-687E-72E9-CCCCB84BD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68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A43CF-9321-9E4A-7676-1E367B267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EB3EC5-A423-ACA3-60BA-52E67C73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81276-0077-7369-EA9D-3B6F5411A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294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1883C-9BDE-A096-2FF7-2284BC3ED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FCB77-01ED-371A-C378-87142BA58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BE314C-072D-62B5-74A7-71F27F8B9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6BC03-4645-854A-D6C6-8D7C53B1C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57C3E-8B2C-C76D-C665-492B0024F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AAFE8-37A5-B1DC-F06D-4F1AEBF7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56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FDE8-5686-E58A-5282-ADCF0FD5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D8DBD-CD79-E21C-1D5F-D2C1E0F28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B30CDF-1345-9063-C079-926A86D5C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DA8D-9D7B-F54C-ED4E-D69D6A1A2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A9E2C-7BA6-2ABC-1DCB-152A94040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01528-13F3-4636-B4CD-91F06702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94655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ADD17-8B2D-2A90-FA87-DC8F92485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C24DF-4B40-5AB3-F11E-A149F2850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4B148-3BA3-B0FC-93DF-D8B333EB4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5DED3-231D-931A-0D4A-1A61F7255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41F99-7DA9-8E3D-A38F-579F9B5D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276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7627C-8FDE-17F4-1C2E-6A33922C1F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53482-E7A3-04A1-2002-7C6FF244E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1F46-AB8F-8CE7-8D5B-1197534E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925A3-CB1C-DB46-C912-47528250E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EBD04-37D0-0D3D-FEF3-4B0E8E45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68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57716-F88A-7698-2CD8-A827578D8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E7FC9-BC25-AC0C-663A-FDA86A422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AC0A0-8434-7217-23EC-D69B31C34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86BD4-A486-0498-370C-829DAEFC1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116E5-FEFD-512D-3BDD-81D30A7693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225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kar42" TargetMode="External"/><Relationship Id="rId2" Type="http://schemas.openxmlformats.org/officeDocument/2006/relationships/hyperlink" Target="https://www.linkedin.com/in/emmadi-srikar-03baaa337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5" y="3793401"/>
            <a:ext cx="724618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32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Employee Management System</a:t>
            </a:r>
            <a:endParaRPr sz="3200" b="0" i="0" u="none" strike="noStrike" cap="none" dirty="0">
              <a:solidFill>
                <a:srgbClr val="00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E47615-D82F-DF0B-5663-5B8450D4CC01}"/>
              </a:ext>
            </a:extLst>
          </p:cNvPr>
          <p:cNvSpPr txBox="1"/>
          <p:nvPr/>
        </p:nvSpPr>
        <p:spPr>
          <a:xfrm>
            <a:off x="7984504" y="5194169"/>
            <a:ext cx="32333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800"/>
            </a:pPr>
            <a:r>
              <a:rPr lang="en-IN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</a:t>
            </a: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Emmadi Srikar</a:t>
            </a:r>
          </a:p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Batch No :436</a:t>
            </a:r>
          </a:p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     </a:t>
            </a:r>
            <a:r>
              <a:rPr lang="en-IN" sz="18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Innomatics</a:t>
            </a: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Research</a:t>
            </a:r>
          </a:p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  Labs </a:t>
            </a:r>
            <a:r>
              <a:rPr lang="en-IN" sz="18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Dilshuknagar</a:t>
            </a: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  </a:t>
            </a:r>
            <a:r>
              <a:rPr lang="en-IN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D26D-9A0D-1E88-9A25-F325A972D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889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  <a:buFont typeface="Arial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Arial"/>
              </a:rPr>
              <a:t>About 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1EFCE-000B-1866-51F4-B884E1FB9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290"/>
            <a:ext cx="10515600" cy="4668674"/>
          </a:xfrm>
        </p:spPr>
        <p:txBody>
          <a:bodyPr/>
          <a:lstStyle/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Emmadi Srikar.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completed my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Computer Science and Engineering from St Mary’s Group of Institution Hyderabad.</a:t>
            </a: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https://www.linkedin.com/in/emmadi-srikar-03baaa337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https://github.com/srikar42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090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CDE4-402E-FC2B-EAFD-CA18F47D6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D1BEC-7190-FECC-9D87-502FB2085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and Fields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9162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60E9-FB19-69FA-79B3-84864A522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71" y="405353"/>
            <a:ext cx="10590229" cy="923826"/>
          </a:xfrm>
        </p:spPr>
        <p:txBody>
          <a:bodyPr>
            <a:normAutofit fontScale="90000"/>
          </a:bodyPr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 :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535C5-462F-B7D4-1A3D-9D3A6E308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71" y="1574276"/>
            <a:ext cx="10590229" cy="4602688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MNC  Company, managing  employee details like job roles, salary, leaves and payroll manually is difficult and it can cause errors.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  creates an Employee  Management systems that stores all employee information in one place and keeps connected.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helps  HR easily update records, track leaves , and calculates salaries accurately, saving time and reducing the  mistakes.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81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EEF8C-9AD6-674A-7734-938BF699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36" y="367645"/>
            <a:ext cx="10637363" cy="980388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16FBD-DFD6-B2BD-9B02-2C665DC62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38" y="1621410"/>
            <a:ext cx="10637362" cy="4555553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an SQL-based Employee Management System.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accurate and consistent employee data across multiple tables.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employee details, department information, qualifications, leaves, and payroll.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analysis on salary, leave patterns, job roles, and departmental structure.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structured, relational database with foreign key constraints and cascading actions.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131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EA84A-2149-6483-44EF-997652485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76" y="82534"/>
            <a:ext cx="10586302" cy="67873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 Diagram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039321-1A5C-E77A-155F-6F2B9281C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21" t="5229" r="2164" b="1601"/>
          <a:stretch>
            <a:fillRect/>
          </a:stretch>
        </p:blipFill>
        <p:spPr>
          <a:xfrm>
            <a:off x="659876" y="1006361"/>
            <a:ext cx="10001839" cy="549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51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1FB82E-D996-61AA-37A2-C2795DB018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428" b="24688"/>
          <a:stretch>
            <a:fillRect/>
          </a:stretch>
        </p:blipFill>
        <p:spPr>
          <a:xfrm>
            <a:off x="1729424" y="782251"/>
            <a:ext cx="7069057" cy="13952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95027E-BE3B-9178-4B61-E2CF0AB884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472" b="26816"/>
          <a:stretch>
            <a:fillRect/>
          </a:stretch>
        </p:blipFill>
        <p:spPr>
          <a:xfrm>
            <a:off x="1729424" y="2997471"/>
            <a:ext cx="6945297" cy="118407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8A0BD89-949C-B3C3-AE9E-4E2CCB7B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276" y="137552"/>
            <a:ext cx="2951378" cy="528125"/>
          </a:xfrm>
        </p:spPr>
        <p:txBody>
          <a:bodyPr>
            <a:normAutofit fontScale="90000"/>
          </a:bodyPr>
          <a:lstStyle/>
          <a:p>
            <a:r>
              <a:rPr lang="en-IN" sz="2400" b="1" dirty="0"/>
              <a:t> 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 Department Table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3142A41A-74C8-CBB2-DE89-CC6DF84CA085}"/>
              </a:ext>
            </a:extLst>
          </p:cNvPr>
          <p:cNvSpPr txBox="1">
            <a:spLocks/>
          </p:cNvSpPr>
          <p:nvPr/>
        </p:nvSpPr>
        <p:spPr>
          <a:xfrm>
            <a:off x="3468276" y="2278133"/>
            <a:ext cx="3347301" cy="618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400" b="1" dirty="0"/>
              <a:t>  Salary Bonus Table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22FC37E9-DF59-0C1B-3A6C-F324C27A007C}"/>
              </a:ext>
            </a:extLst>
          </p:cNvPr>
          <p:cNvSpPr txBox="1">
            <a:spLocks/>
          </p:cNvSpPr>
          <p:nvPr/>
        </p:nvSpPr>
        <p:spPr>
          <a:xfrm>
            <a:off x="3528421" y="4181541"/>
            <a:ext cx="3347301" cy="618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400" b="1" dirty="0"/>
              <a:t>  Employee Table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B1094-3579-D5BC-7F16-460788388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9424" y="4916831"/>
            <a:ext cx="7303515" cy="141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391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EC6E30-8473-5387-A8DF-44FBA3AF2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8233" y="163618"/>
            <a:ext cx="2904860" cy="554848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Qualification Table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C250BA-B27B-C568-B666-5079FCCB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838" y="830758"/>
            <a:ext cx="7523375" cy="1570690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E943AE7-161E-DF83-F046-5654F2E09D7A}"/>
              </a:ext>
            </a:extLst>
          </p:cNvPr>
          <p:cNvSpPr txBox="1">
            <a:spLocks/>
          </p:cNvSpPr>
          <p:nvPr/>
        </p:nvSpPr>
        <p:spPr>
          <a:xfrm>
            <a:off x="3698235" y="2439898"/>
            <a:ext cx="2904241" cy="52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400" b="1" dirty="0"/>
              <a:t>Leaves Table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AFBA79-E4AC-BD06-37F1-137E4A920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838" y="2964893"/>
            <a:ext cx="6584471" cy="1528210"/>
          </a:xfrm>
          <a:prstGeom prst="rect">
            <a:avLst/>
          </a:prstGeom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45328A52-EB13-E274-5F41-FADA8A4FE651}"/>
              </a:ext>
            </a:extLst>
          </p:cNvPr>
          <p:cNvSpPr txBox="1">
            <a:spLocks/>
          </p:cNvSpPr>
          <p:nvPr/>
        </p:nvSpPr>
        <p:spPr>
          <a:xfrm>
            <a:off x="3698235" y="4539383"/>
            <a:ext cx="2753414" cy="517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400" b="1" dirty="0"/>
              <a:t> Payroll Table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2E2F2F-AA20-2FEE-B72B-285682C6F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838" y="5248169"/>
            <a:ext cx="7121036" cy="133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348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098B9-5234-5773-4F30-FC49090D2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291" y="377072"/>
            <a:ext cx="10048973" cy="923828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Queries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5D658-BB89-149B-6D64-7036D29E2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291" y="1593130"/>
            <a:ext cx="10618509" cy="458383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How many unique employees are currently in the system?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DA9E6E-B3E0-2CE3-045A-81F2FB0B0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19405"/>
            <a:ext cx="5342767" cy="12550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BCBC90-1BF5-60C4-B14E-6925DDA4B0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58" b="11099"/>
          <a:stretch>
            <a:fillRect/>
          </a:stretch>
        </p:blipFill>
        <p:spPr>
          <a:xfrm>
            <a:off x="1008667" y="4283267"/>
            <a:ext cx="3180739" cy="98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237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5535A-BECD-ED1D-41C1-F6D9BDD47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9B072-8A6C-BB20-2FE9-C5F8A91DB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291" y="496502"/>
            <a:ext cx="10618509" cy="568046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Who are the top 5 highest-paid employees?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6F8D1F-52B9-12E2-99F9-4602AED01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4353"/>
            <a:ext cx="5379947" cy="1721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E7DADF-B5F7-82BF-F653-550A210CD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38792"/>
            <a:ext cx="3812513" cy="172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849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7F85E-09A1-482A-AE0B-383096706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810" y="519628"/>
            <a:ext cx="10515600" cy="5818744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Which departments have the highest number of employees?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275DC6-BD58-F5FB-91A9-CB936DFC0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2085"/>
            <a:ext cx="7549605" cy="16028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316998-FD87-C1DB-5F9A-496D9C0D5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02" y="3889399"/>
            <a:ext cx="3422715" cy="179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29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DA13B-05CD-E442-9DCC-B457D57AB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449" y="490194"/>
            <a:ext cx="11133056" cy="5797483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What is the average salary per department?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50D9C-8216-81E6-9232-337E47AFA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234" y="1418493"/>
            <a:ext cx="6020771" cy="20105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C9C3B5-2E31-7F6F-DDB8-ACA2E602C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64" y="3886154"/>
            <a:ext cx="3472654" cy="19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232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489F6-A40E-6C7C-7349-6D37B12D6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95" y="452486"/>
            <a:ext cx="10879317" cy="5752757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How many different job roles exist in each department?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07922-E00C-292A-A449-60E614A7F9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498"/>
          <a:stretch>
            <a:fillRect/>
          </a:stretch>
        </p:blipFill>
        <p:spPr>
          <a:xfrm>
            <a:off x="757288" y="1699451"/>
            <a:ext cx="6827720" cy="17295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6008EF-F7F9-DE48-5D08-2DA2A86A5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02" y="3895170"/>
            <a:ext cx="2702349" cy="231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270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5AC1-A5D0-BD96-7423-CBC8F444A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76" y="546755"/>
            <a:ext cx="10515600" cy="5583074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Which job roles offer the highest salary?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3D63FE-09A6-7856-806F-7FBAECB13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70" y="1590737"/>
            <a:ext cx="5216943" cy="2468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57C0AD-2298-95B0-85BE-63E5CFFAD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84" y="4421334"/>
            <a:ext cx="3312729" cy="169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123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2D147-66FB-4B89-40E7-6E8313F95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96" y="386499"/>
            <a:ext cx="10722204" cy="5790464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Which year had the most employees taking leaves?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C46EBA-F2F2-7EB3-1CB5-5EF9E9FD8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4" y="1706983"/>
            <a:ext cx="5336357" cy="1808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13BEF0-6C80-59A9-7D3E-132862D4BE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269"/>
          <a:stretch>
            <a:fillRect/>
          </a:stretch>
        </p:blipFill>
        <p:spPr>
          <a:xfrm>
            <a:off x="913614" y="4101344"/>
            <a:ext cx="2989083" cy="100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80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2AF5F-715B-FEE2-7FA8-2F97534F1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96" y="405353"/>
            <a:ext cx="10722204" cy="577161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 Which employees have taken the most leaves?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B5A935-008B-5065-638A-3A2CCE533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66" y="1523936"/>
            <a:ext cx="4076893" cy="24657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ADC54B-7D52-A697-9E4A-B90E0D45B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65" y="4527006"/>
            <a:ext cx="3624937" cy="133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32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D6B12-71DD-BA88-8E54-E644278A4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3951"/>
            <a:ext cx="10515600" cy="5913012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 What is the average bonus given per department?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0B6B91-07F5-A2BE-2C67-CB6476A38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48" y="1311478"/>
            <a:ext cx="5424527" cy="2298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ED1404-A24C-143E-587A-035B678196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571"/>
          <a:stretch>
            <a:fillRect/>
          </a:stretch>
        </p:blipFill>
        <p:spPr>
          <a:xfrm>
            <a:off x="1217066" y="3765710"/>
            <a:ext cx="2808179" cy="209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8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831F9-61E7-25D9-6317-50E8B9AC1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7072"/>
            <a:ext cx="10515600" cy="5799891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Which department receives the highest total bonuses?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C62F21-4062-F933-9B1E-79C07D1A8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938" y="1728009"/>
            <a:ext cx="5146868" cy="23160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8F077E-881D-AB82-44AD-87E6C91CA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545" y="4564908"/>
            <a:ext cx="2777949" cy="74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76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4E05F-DDF3-4431-DD4F-8F7992B70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71" y="348793"/>
            <a:ext cx="10590229" cy="942680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E4BDA-9110-9901-8E2C-FA46BEF54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71" y="1574276"/>
            <a:ext cx="10590229" cy="4602687"/>
          </a:xfrm>
        </p:spPr>
        <p:txBody>
          <a:bodyPr/>
          <a:lstStyle/>
          <a:p>
            <a:r>
              <a:rPr lang="en-IN" sz="2400" dirty="0"/>
              <a:t>Total Employees: </a:t>
            </a:r>
            <a:r>
              <a:rPr lang="en-IN" sz="2400" b="1" dirty="0"/>
              <a:t>60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Departments with highest employees: </a:t>
            </a:r>
            <a:r>
              <a:rPr lang="en-US" sz="2400" b="1" dirty="0"/>
              <a:t>Finance &amp; IT</a:t>
            </a:r>
          </a:p>
          <a:p>
            <a:r>
              <a:rPr lang="en-US" sz="2400" dirty="0"/>
              <a:t>Highest salary roles belong to </a:t>
            </a:r>
            <a:r>
              <a:rPr lang="en-US" sz="2400" b="1" dirty="0"/>
              <a:t>Engineering &amp; IT</a:t>
            </a:r>
          </a:p>
          <a:p>
            <a:r>
              <a:rPr lang="en-US" sz="2400" dirty="0"/>
              <a:t>Most leaves occurred in </a:t>
            </a:r>
            <a:r>
              <a:rPr lang="en-US" sz="2400" b="1" dirty="0"/>
              <a:t>2024</a:t>
            </a:r>
          </a:p>
          <a:p>
            <a:r>
              <a:rPr lang="en-US" sz="2400" dirty="0"/>
              <a:t>Average salary ranges were highest in </a:t>
            </a:r>
            <a:r>
              <a:rPr lang="en-US" sz="2400" b="1" dirty="0"/>
              <a:t>Marketing and Legal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 processing integrates salary, leaves, and job role data accurately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8316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CA5C5-A91C-E510-BA7A-2136EE9D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718" y="443060"/>
            <a:ext cx="10609082" cy="876694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1DF87-2A22-DEB9-8A8D-88598AFA0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718" y="1593130"/>
            <a:ext cx="10609082" cy="4583833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Employee Management System successfully integrates all employee-related information in a structured format.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relational model maintains data integrity through foreign keys and cascading actions.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 provide meaningful insights into HR operations.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strong understanding of database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design,normalization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SQL querying.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0622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03ECD117-6E96-6947-5553-AC133E59D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617" y="1425262"/>
            <a:ext cx="7579150" cy="400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951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</TotalTime>
  <Words>438</Words>
  <Application>Microsoft Office PowerPoint</Application>
  <PresentationFormat>Widescreen</PresentationFormat>
  <Paragraphs>69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Times New Roman</vt:lpstr>
      <vt:lpstr>Calibri</vt:lpstr>
      <vt:lpstr>Arial</vt:lpstr>
      <vt:lpstr>Lato Black</vt:lpstr>
      <vt:lpstr>Libre Baskerville</vt:lpstr>
      <vt:lpstr>Calibri Light</vt:lpstr>
      <vt:lpstr>Office Theme</vt:lpstr>
      <vt:lpstr>PowerPoint Presentation</vt:lpstr>
      <vt:lpstr>About me</vt:lpstr>
      <vt:lpstr>AGENDA :</vt:lpstr>
      <vt:lpstr> Problem Statement : </vt:lpstr>
      <vt:lpstr>Objective :</vt:lpstr>
      <vt:lpstr>ER Diagram :</vt:lpstr>
      <vt:lpstr>  Job Department Table</vt:lpstr>
      <vt:lpstr>Qualification Table</vt:lpstr>
      <vt:lpstr>Queries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 :</vt:lpstr>
      <vt:lpstr>Conclusion 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srikar emmadi</cp:lastModifiedBy>
  <cp:revision>15</cp:revision>
  <dcterms:created xsi:type="dcterms:W3CDTF">2021-02-16T05:19:01Z</dcterms:created>
  <dcterms:modified xsi:type="dcterms:W3CDTF">2025-12-24T10:03:28Z</dcterms:modified>
</cp:coreProperties>
</file>